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51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MATERIAL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 Demand &amp;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Optimizing Production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&amp; The Newsvendor Problem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8513B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Simulation: Strategic Decision Making  |  Harvard Business Publishing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Forecasting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decision is one of the most consequential choices in the simulation.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8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too little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you miss sales when demand exceeds supply. Lost revenue that can never be recovered.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8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too much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excess inventory sits on the books. While there’s no holding cost in this simulation, you’ve tied up variable costs in unsold product.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uncertain. You don’t know exactly how many units consumers will want next year. You need a structured way to deal with this uncertainty.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0" y="1280160"/>
            <a:ext cx="3108960" cy="25603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5216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85216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Sales =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MIN(Demand,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+ Inventory)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0" y="2926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limits sales,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demand. Your marketing decisions drive demand. Your production decision determines whether you can meet it.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Monte Carlo Simulation?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computational technique that uses repeated random sampling to model the probability of different outcomes in a process that cannot easily be predicted due to the intervention of random variables.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603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2560320" cy="54864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9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Define Uncertainty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the 4 regions, estimate a minimum, expected, and maximum demand. This creates a triangular probability distribution for each region.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874520"/>
            <a:ext cx="25603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874520"/>
            <a:ext cx="2560320" cy="54864"/>
          </a:xfrm>
          <a:prstGeom prst="rect">
            <a:avLst/>
          </a:prstGeom>
          <a:solidFill>
            <a:srgbClr val="C8513B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Simulate Random Outcomes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56032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draws 1,000 random values from each regional distribution and sums them to create 1,000 possible nationwide demand scenarios.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25603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874520"/>
            <a:ext cx="2560320" cy="54864"/>
          </a:xfrm>
          <a:prstGeom prst="rect">
            <a:avLst/>
          </a:prstGeom>
          <a:solidFill>
            <a:srgbClr val="2D8F6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8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Analyze the Distribution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1,000 scenarios reveal a range of likely outcomes, their probabilities, and their financial implications (revenue, costs, profit).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the Monte Carlo casino in Monaco — because outcomes depend on random chance, just like gambling. But unlike gambling, we run enough simulations to see the full picture.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Triangular Distributions: Modeling Regional Demand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region, the student defines three parameters: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E5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Minimum (Low)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lowest plausible demand (worst-case scenario)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E5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Expected (Mode)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most likely demand level (best estimate)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E5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Maximum (High)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highest plausible demand (best-case scenario)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1005840"/>
            <a:ext cx="2834640" cy="1645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0" y="1097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WEST REGION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417320"/>
          <a:ext cx="24688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11.0M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14.4M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15.1M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2880360"/>
            <a:ext cx="81381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9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Estimate These Parameters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8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historical demand by region using Data Explorer → Brand Demand → Filter by Region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8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year-over-year growth rates for each region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8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Expected = last year’s demand × (1 + last year’s growth rate)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8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Minimum = lowest historical demand (or apply most conservative growth)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8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Maximum = last year’s demand × (1 + highest historical growth rate)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Regional Estimates to National Forecast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23774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2E59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9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Northeast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distribution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3774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2E59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9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Southeast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distribution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23774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2E59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9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distribution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23774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2E59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9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distribution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85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3840480" y="1508760"/>
            <a:ext cx="2011680" cy="2377440"/>
          </a:xfrm>
          <a:prstGeom prst="rect">
            <a:avLst/>
          </a:prstGeom>
          <a:solidFill>
            <a:srgbClr val="C8513B">
              <a:alpha val="90000"/>
            </a:srgbClr>
          </a:solidFill>
          <a:ln w="12700">
            <a:solidFill>
              <a:srgbClr val="C851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645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377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random draws from each region, summed to create 1,000 national demand estimates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85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6583680" y="1508760"/>
            <a:ext cx="2194560" cy="23774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Skewed Gaussian Distribution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377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triangular distribution!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Limit Theorem causes the sum of triangular distributions to approach a Gaussian (bell curve) shape.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8138160" cy="640080"/>
          </a:xfrm>
          <a:prstGeom prst="rect">
            <a:avLst/>
          </a:prstGeom>
          <a:solidFill>
            <a:srgbClr val="FFF3EE"/>
          </a:solidFill>
          <a:ln w="6350">
            <a:solidFill>
              <a:srgbClr val="C851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3159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8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output is a probability distribution (not a single number), it tells you not just </a:t>
            </a:r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demand might be, but </a:t>
            </a:r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level of demand is. This is far more useful for decision-making than a point estimate.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Newsvendor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operations management problem that applies directly to the production decision in the simulation.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9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Classic Formulation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sells a perishable product (newspapers). Each morning, they must decide how many to order 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knowing the day’s demand.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order too few, they lose potential profit from unsold papers.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order too many, unsold papers are wasted (or sold at a loss).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exactly one ordering opportunity. No replenishment is possible.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114800" cy="29260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This Simulation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96596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Newsvendor maps directly: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= 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laundry detergent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decision = 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to Produce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= 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consumer demand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chance to decide = 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production decision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Simplification: in the simulation, unsold inventory carries forward with no holding cost. This makes overproduction less costly than in the classic problem — but underproduction still means lost sales.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Flaw of Averages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Producing to Average Demand Is Not Optimal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instinct: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average forecasted demand is 33M units, I should produce 33M units.”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8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wrong: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forecast is accurate, actual demand will exceed the average 50% of the time. By producing only to the average, you guarantee that half the time you cannot meet demand.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profit from meeting above-average demand (when it occurs) outweighs the cost of holding a modest inventory buffer (when demand is lower).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known as the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8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“Flaw of Averages”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(Sam Savage, Harvard Business Review): plans based on average assumptions are wrong on average.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280160"/>
            <a:ext cx="3383280" cy="1371600"/>
          </a:xfrm>
          <a:prstGeom prst="rect">
            <a:avLst/>
          </a:prstGeom>
          <a:solidFill>
            <a:srgbClr val="FFF0F0"/>
          </a:solidFill>
          <a:ln w="6350">
            <a:solidFill>
              <a:srgbClr val="C85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0" y="1371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PRODUCE = AVERAGE DEMAND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0" y="16916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histogram peaks at the cap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&lt; average demand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distribution is truncated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skewed left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2880360"/>
            <a:ext cx="3383280" cy="1371600"/>
          </a:xfrm>
          <a:prstGeom prst="rect">
            <a:avLst/>
          </a:prstGeom>
          <a:solidFill>
            <a:srgbClr val="EEFAF4"/>
          </a:solidFill>
          <a:ln w="6350">
            <a:solidFill>
              <a:srgbClr val="2D8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2971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8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PRODUCE &gt; AVERAGE DEMAND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32918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histogram is more symmetric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upside when demand is high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distribution is wider with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average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Find the Optimal Production Level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502920" cy="502920"/>
          </a:xfrm>
          <a:prstGeom prst="ellipse">
            <a:avLst/>
          </a:prstGeom>
          <a:solidFill>
            <a:srgbClr val="2E5984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920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9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Forecasts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Low / Expected / High demand estimates for all four regions based on historical data analysis.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502920" cy="502920"/>
          </a:xfrm>
          <a:prstGeom prst="ellipse">
            <a:avLst/>
          </a:prstGeom>
          <a:solidFill>
            <a:srgbClr val="2E5984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0" y="1783080"/>
            <a:ext cx="1920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9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Profit Histogram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22860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Forecast Demand tool, select “Operating Profit” from the Results Distribution menu.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1097280"/>
            <a:ext cx="502920" cy="502920"/>
          </a:xfrm>
          <a:prstGeom prst="ellipse">
            <a:avLst/>
          </a:prstGeom>
          <a:solidFill>
            <a:srgbClr val="C8513B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846320" y="1783080"/>
            <a:ext cx="1920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5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with Production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2860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“Units to Produce” and watch how the Average profit value (lower-right) changes.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1097280"/>
            <a:ext cx="502920" cy="502920"/>
          </a:xfrm>
          <a:prstGeom prst="ellipse">
            <a:avLst/>
          </a:prstGeom>
          <a:solidFill>
            <a:srgbClr val="2D8F6F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49440" y="1783080"/>
            <a:ext cx="1920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8660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Maximize Average Profit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22860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adjusting until you find the production level that yields the highest average operating profit.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023360"/>
            <a:ext cx="813816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114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production will typically be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average demand.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simulation example, average forecasted demand is ~34M but optimal production is ~48M units — increasing average profit from $38.5M to $48.5M (a 26% improvement from this single optimization).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Broader Lessons for Decision-Making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2E598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0515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Embrace Uncertainty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Single-point forecasts create false confidence. Probability distributions give decision-makers a realistic picture of what could happen — and how likely each scenario 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C851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Plans Based on Averages Are Wrong on Average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331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“Flaw of Averages” applies to budgets, project timelines, resource planning, and any decision involving uncertain variables. Always think in ranges.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2E598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Asymmetric Costs Change Optimal Decisions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291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cost of under-producing differs from the cost of over-producing, the optimal decision is NOT the average. Understand the asymmetry in your real-world decisions.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C851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931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Is Iteration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251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is powerful because it’s iterative: change inputs, see how outputs shift, refine your assumptions. This mirrors real analytical management.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51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goal is not to predict the future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perfectly, but to understand the range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possibilities well enough to make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decisions today.”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8513B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reading: Sam Savage, “The Flaw of Averages,” Harvard Business Review  |  HBP Background Note: Managing Inventories – The Newsvendor Model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Monte Carlo Simulation &amp; The Newsvendor Problem</dc:title>
  <dc:subject>PptxGenJS Presentation</dc:subject>
  <dc:creator>Riccardo Bovetti</dc:creator>
  <cp:lastModifiedBy>Riccardo Bovetti</cp:lastModifiedBy>
  <cp:revision>1</cp:revision>
  <dcterms:created xsi:type="dcterms:W3CDTF">2026-02-21T18:40:35Z</dcterms:created>
  <dcterms:modified xsi:type="dcterms:W3CDTF">2026-02-21T18:40:35Z</dcterms:modified>
</cp:coreProperties>
</file>